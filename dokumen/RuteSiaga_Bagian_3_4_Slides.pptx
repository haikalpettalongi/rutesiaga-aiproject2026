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6d380460da4b54" /><Relationship Type="http://schemas.openxmlformats.org/officeDocument/2006/relationships/extended-properties" Target="/docProps/app.xml" Id="R1d469ec337dd44ec" /><Relationship Type="http://schemas.openxmlformats.org/officeDocument/2006/relationships/officeDocument" Target="/ppt/presentation.xml" Id="R0431d2844ca54b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448565a8d04850"/>
  </p:sldMasterIdLst>
  <p:notesMasterIdLst>
    <p:notesMasterId xmlns:r="http://schemas.openxmlformats.org/officeDocument/2006/relationships" r:id="R52048b49db0f4667"/>
  </p:notesMasterIdLst>
  <p:sldIdLst>
    <p:sldId xmlns:r="http://schemas.openxmlformats.org/officeDocument/2006/relationships" id="256" r:id="Rff5a0304e23b412b"/>
    <p:sldId xmlns:r="http://schemas.openxmlformats.org/officeDocument/2006/relationships" id="257" r:id="Rdceba25c9ab847bd"/>
    <p:sldId xmlns:r="http://schemas.openxmlformats.org/officeDocument/2006/relationships" id="258" r:id="Ra2a1e5cc298c4c1d"/>
    <p:sldId xmlns:r="http://schemas.openxmlformats.org/officeDocument/2006/relationships" id="259" r:id="Re675d1164fa146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364269147441c3" /><Relationship Type="http://schemas.openxmlformats.org/officeDocument/2006/relationships/slideMaster" Target="/ppt/slideMasters/slideMaster1.xml" Id="R37448565a8d04850" /><Relationship Type="http://schemas.openxmlformats.org/officeDocument/2006/relationships/notesMaster" Target="/ppt/notesMasters/notesMaster1.xml" Id="R52048b49db0f4667" /><Relationship Type="http://schemas.openxmlformats.org/officeDocument/2006/relationships/presProps" Target="/ppt/presProps.xml" Id="R1c019358ccc74765" /><Relationship Type="http://schemas.openxmlformats.org/officeDocument/2006/relationships/tableStyles" Target="/ppt/tableStyles.xml" Id="R05b517748e884da9" /><Relationship Type="http://schemas.openxmlformats.org/officeDocument/2006/relationships/slide" Target="/ppt/slides/slide1.xml" Id="Rff5a0304e23b412b" /><Relationship Type="http://schemas.openxmlformats.org/officeDocument/2006/relationships/slide" Target="/ppt/slides/slide2.xml" Id="Rdceba25c9ab847bd" /><Relationship Type="http://schemas.openxmlformats.org/officeDocument/2006/relationships/slide" Target="/ppt/slides/slide3.xml" Id="Ra2a1e5cc298c4c1d" /><Relationship Type="http://schemas.openxmlformats.org/officeDocument/2006/relationships/slide" Target="/ppt/slides/slide4.xml" Id="Re675d1164fa146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47bc7f7b894b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460abb6bec4944" /><Relationship Type="http://schemas.openxmlformats.org/officeDocument/2006/relationships/notesMaster" Target="/ppt/notesMasters/notesMaster1.xml" Id="R48c29ce4a63041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a470420e814e76" /><Relationship Type="http://schemas.openxmlformats.org/officeDocument/2006/relationships/notesMaster" Target="/ppt/notesMasters/notesMaster1.xml" Id="R595c0e2e3c554b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ceb417b2ca4173" /><Relationship Type="http://schemas.openxmlformats.org/officeDocument/2006/relationships/notesMaster" Target="/ppt/notesMasters/notesMaster1.xml" Id="Ree87df7ab6aa40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4db68892ce462d" /><Relationship Type="http://schemas.openxmlformats.org/officeDocument/2006/relationships/notesMaster" Target="/ppt/notesMasters/notesMaster1.xml" Id="R9318be88bcf841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RuteSiaga_FINAL/dokumen/REPORT_SECTIONS_3_AND_4_EN.md, section 3.1; network_report.json. The active system has 45 road goal nodes for 44 unique hospital names. OSM completeness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 sections 3.2–3.3. Costs are non-negative model assumptions for morning, midday, evening, and night. The marker-to-road gap is shown but excluded from travel time. Width and class tags are suitability proxies.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 section 4.3 and hasil/json_otomatis/hasil_batch.json. A* expanded fewer states in every case, but its mean runtime was higher in this batch. The heuristic is nearest-goal straight-line distance divided by the 60 km/h maximum model speed; this is admissible because edge penalties are non-negative. Search runtime excludes data loading and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 sections 4.1 and 4.4. Input: -7.766067024356544, 110.37390636072011, morning. The selected road segment is approximately 7.08 m from the marker. If presenting a live demo, run Jalankan-Web.cmd and show this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506358b6240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df90ad03484744" /><Relationship Type="http://schemas.openxmlformats.org/officeDocument/2006/relationships/slideLayout" Target="/ppt/slideLayouts/slideLayout1.xml" Id="R2d48b580c73b43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48b580c73b43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ed21a015c4b1b" /><Relationship Type="http://schemas.openxmlformats.org/officeDocument/2006/relationships/notesSlide" Target="/ppt/notesSlides/notesSlide1.xml" Id="R1d21636107f249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54885c5a84c54" /><Relationship Type="http://schemas.openxmlformats.org/officeDocument/2006/relationships/notesSlide" Target="/ppt/notesSlides/notesSlide2.xml" Id="Rbc793c626c9c47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ffa76b3024355" /><Relationship Type="http://schemas.openxmlformats.org/officeDocument/2006/relationships/chart" Target="/ppt/slides/charts/chart1.xml" Id="R4b44d181536e4e89" /><Relationship Type="http://schemas.openxmlformats.org/officeDocument/2006/relationships/notesSlide" Target="/ppt/notesSlides/notesSlide3.xml" Id="Rff1aecc256154b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bc80c11a34cea" /><Relationship Type="http://schemas.openxmlformats.org/officeDocument/2006/relationships/notesSlide" Target="/ppt/notesSlides/notesSlide4.xml" Id="Rea2daf82540a46c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Expanded states</c:v>
          </c:tx>
          <c:spPr>
            <a:solidFill xmlns:a="http://schemas.openxmlformats.org/drawingml/2006/main">
              <a:srgbClr val="087F77"/>
            </a:solidFill>
          </c:spPr>
          <c:cat>
            <c:strRef>
              <c:f>'Chart Data'!$A$2:$A$3</c:f>
              <c:strCache>
                <c:ptCount val="2"/>
                <c:pt idx="0">
                  <c:v>UCS</c:v>
                </c:pt>
                <c:pt idx="1">
                  <c:v>A*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264494</c:v>
                </c:pt>
                <c:pt idx="1">
                  <c:v>153311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84860-3DC3-45EA-BD23-E176E79F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Data and road 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D50A2-D2CA-4B59-87A3-053DB60A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29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RuteSiaga  /  Sections 3–4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CEFB6-B52D-475D-84F6-E5ED914A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103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1DA4A-0780-4216-B507-86DDE402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OpenStreetMap / Geofabrik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F1931-9921-4E74-A5D3-E073B579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704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Java snapshot: 20 September 2026</a:t>
            </a:r>
          </a:p>
          <a:p xmlns:a="http://schemas.openxmlformats.org/drawingml/2006/main">
            <a:pPr>
              <a:defRPr sz="17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DIY with a 10 km boundary buffer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2A4BF-23C2-4249-871E-E0BF7E71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169,944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B72F7-06C1-4692-A8F2-E1CF41A5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road nodes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A7841-098B-457F-A6D2-C99729BC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330,774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3043F-9EF0-4109-AAC9-A0EE9A1C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95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directed edges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DCC9D-D2F0-4923-ACFF-CDB32567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A2D66-5A31-4592-84F1-C1AFF05F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195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unique hospital names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46FED-CE29-406E-8885-253AD398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Hospital goals represent nearby road nodes, not emergency-department entrances.</a:t>
            </a:r>
          </a:p>
        </p:txBody>
      </p:sp>
    </p:spTree>
    <p:extLst>
      <p:ext uri="{BB962C8B-B14F-4D97-AF65-F5344CB8AC3E}">
        <p14:creationId xmlns:p14="http://schemas.microsoft.com/office/powerpoint/2010/main" val="721083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9DBAD-CFA7-4A22-A70B-1DFF19A1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Travel-time routing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0CEF1-470C-48C6-AC26-87429737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29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RuteSiaga  /  Sections 3–4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8AF2F-404A-491A-BCCD-0375D7F3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103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C91A0-9235-4177-BA3E-5F1CCBC0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461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Departure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4E8A7-6F94-43CE-B3F7-5DB38FA2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Place name, coordinates, or map click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88F83-6AA7-42C2-9DD5-7AAED419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461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Road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8B2A0-5897-46DA-8361-7D38F64A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Direction-aware snap, within 1 km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88B14-4583-4008-AC86-1F67780D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461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Hospital 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C1D1B-1202-4C93-B621-50928B3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7197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UCS and A* search all goals in one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E4481-4D57-4DB4-9BDB-99AE2F40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811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Edge cost (seconds)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28C8C-001C-4B74-A56E-4F865A07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76450"/>
            <a:ext cx="4572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Base travel time</a:t>
            </a:r>
          </a:p>
          <a:p xmlns:a="http://schemas.openxmlformats.org/drawingml/2006/main">
            <a:pPr>
              <a:defRPr sz="165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+ school / market / mall exposure</a:t>
            </a:r>
          </a:p>
          <a:p xmlns:a="http://schemas.openxmlformats.org/drawingml/2006/main">
            <a:pPr>
              <a:defRPr sz="165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+ traffic-signal delay</a:t>
            </a:r>
          </a:p>
          <a:p xmlns:a="http://schemas.openxmlformats.org/drawingml/2006/main">
            <a:pPr>
              <a:defRPr sz="165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+ level-crossing and gate delay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635AF-102D-4FD3-B68A-CA0CC227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244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One-way and turn restrictions remain active.</a:t>
            </a:r>
          </a:p>
        </p:txBody>
      </p:sp>
    </p:spTree>
    <p:extLst>
      <p:ext uri="{BB962C8B-B14F-4D97-AF65-F5344CB8AC3E}">
        <p14:creationId xmlns:p14="http://schemas.microsoft.com/office/powerpoint/2010/main" val="1211746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61C84-F2DF-4DBB-B596-DEBC1B6B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UCS and A*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32D61-8996-45EC-AC9D-BF856EBA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29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RuteSiaga  /  Sections 3–4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6D178-9B98-478D-8C24-142E1A22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103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1BC54-09E8-4739-8470-1742200D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80 routes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708D0-EA87-43A1-A78D-15A53689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20 departures × 4 time scenarios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04850" y="2857500"/>
          <a:ext xmlns:a="http://schemas.openxmlformats.org/drawingml/2006/main" cx="6905625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44d181536e4e8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BF248-62BC-4A64-A790-31489B33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81325"/>
            <a:ext cx="328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42% fewer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7E0AD-197B-45CE-9C34-C5546FCA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48075"/>
            <a:ext cx="328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states expanded by A*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DA48B-E951-47D9-99FA-EEE05C82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05325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Mean search 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93DF9-CD45-4816-BEFC-318C158B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57750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UCS 32.82 ms</a:t>
            </a:r>
          </a:p>
          <a:p xmlns:a="http://schemas.openxmlformats.org/drawingml/2006/main">
            <a:pPr>
              <a:defRPr sz="165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A* 36.80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C9714-4F2D-4DD1-A568-E3F010AE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Both algorithms returned equal optimal costs and paths in all 80 cases.</a:t>
            </a:r>
          </a:p>
        </p:txBody>
      </p:sp>
    </p:spTree>
    <p:extLst>
      <p:ext uri="{BB962C8B-B14F-4D97-AF65-F5344CB8AC3E}">
        <p14:creationId xmlns:p14="http://schemas.microsoft.com/office/powerpoint/2010/main" val="563052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B483F-E812-417F-A483-B3D43396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Working example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927A9-2F77-4E6D-B555-C8B51387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29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RuteSiaga  /  Sections 3–4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60E2D-93F5-4F40-827B-A981ED7B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103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1F72F-62C0-430E-82F7-CA9238D3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Jalan Grafika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23D42-6A4C-4FCA-8A7C-EAE86846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Morning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C7F5A-7A5A-4E6B-81CE-526AC1A2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8096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RSUP Dr. Sardjito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D9FDC-BBBD-490B-91DC-17613091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44.89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40A05-CB1C-4F0A-B753-33A53875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67150"/>
            <a:ext cx="5238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249.41 m route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DE8EF-5511-4501-9B3B-08AD4C20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UCS: 43 states    A*: 36 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CF685-92F6-4149-B012-CCF94092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8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8616A"/>
                </a:solidFill>
                <a:latin typeface="Arial"/>
                <a:ea typeface="Arial"/>
                <a:cs typeface="Arial"/>
              </a:rPr>
              <a:t>Estimate to a hospital road point. Real ambulance travel time and entrance access remain unvalidated.</a:t>
            </a:r>
          </a:p>
        </p:txBody>
      </p:sp>
    </p:spTree>
    <p:extLst>
      <p:ext uri="{BB962C8B-B14F-4D97-AF65-F5344CB8AC3E}">
        <p14:creationId xmlns:p14="http://schemas.microsoft.com/office/powerpoint/2010/main" val="1839227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2026-09-30T13:38:22.3320000Z</dcterms:created>
  <dcterms:modified xsi:type="dcterms:W3CDTF">2026-09-30T13:38:22.3320000Z</dcterms:modified>
</coreProperties>
</file>